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148840"/>
            <a:ext cx="502920" cy="502920"/>
          </a:xfrm>
          <a:prstGeom prst="roundRect">
            <a:avLst/>
          </a:prstGeom>
          <a:solidFill>
            <a:srgbClr val="2F5FE0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1488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01827"/>
                </a:solidFill>
                <a:latin typeface="Segoe UI"/>
              </a:defRPr>
            </a:pPr>
            <a:r>
              <a:t>EMPM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101827"/>
                </a:solidFill>
                <a:latin typeface="Segoe UI"/>
              </a:defRPr>
            </a:pPr>
            <a:r>
              <a:t>Flows &amp; Architecture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11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6D28D9"/>
                </a:solidFill>
                <a:latin typeface="Segoe UI"/>
              </a:defRPr>
            </a:pPr>
            <a:r>
              <a:t>Client Approval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5B6478"/>
                </a:solidFill>
                <a:latin typeface="Segoe UI"/>
              </a:defRPr>
            </a:pPr>
            <a:r>
              <a:t>Registration, login &amp; OTP, provisioning hierarchy, role-based access, every</a:t>
            </a:r>
            <a:br/>
            <a:r>
              <a:t>portal, and the build roadmap — for sign-off before development begins.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D28D9"/>
                </a:solidFill>
                <a:latin typeface="Segoe UI"/>
              </a:defRPr>
            </a:pPr>
            <a:r>
              <a:t>Sections marked PROPOSED reflect the PRD's open questions and need client confirmation before build.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827"/>
                </a:solidFill>
                <a:latin typeface="Segoe UI"/>
              </a:defRPr>
            </a:pPr>
            <a:r>
              <a:t>How to read these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B6478"/>
                </a:solidFill>
                <a:latin typeface="Segoe UI"/>
              </a:defRPr>
            </a:pPr>
            <a:r>
              <a:t>Four states are used consistently across the deck.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44752"/>
            <a:ext cx="2697480" cy="2468880"/>
          </a:xfrm>
          <a:prstGeom prst="roundRect">
            <a:avLst/>
          </a:prstGeom>
          <a:solidFill>
            <a:srgbClr val="EAF0FE"/>
          </a:solidFill>
          <a:ln w="19050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50" b="0">
                <a:solidFill>
                  <a:srgbClr val="101827"/>
                </a:solidFill>
                <a:latin typeface="Segoe U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01827"/>
                </a:solidFill>
                <a:latin typeface="Segoe UI"/>
              </a:defRPr>
            </a:pPr>
            <a:r>
              <a:t>Built — Milestone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30552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5B6478"/>
                </a:solidFill>
                <a:latin typeface="Segoe UI"/>
              </a:defRPr>
            </a:pPr>
            <a:r>
              <a:t>Live in the current app today.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444752"/>
            <a:ext cx="2697480" cy="2468880"/>
          </a:xfrm>
          <a:prstGeom prst="roundRect">
            <a:avLst/>
          </a:prstGeom>
          <a:solidFill>
            <a:srgbClr val="FBF1DD"/>
          </a:solidFill>
          <a:ln w="19050">
            <a:solidFill>
              <a:srgbClr val="A86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50" b="0">
                <a:solidFill>
                  <a:srgbClr val="101827"/>
                </a:solidFill>
                <a:latin typeface="Segoe U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3566160" y="1645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01827"/>
                </a:solidFill>
                <a:latin typeface="Segoe UI"/>
              </a:defRPr>
            </a:pPr>
            <a:r>
              <a:t>Partial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130552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5B6478"/>
                </a:solidFill>
                <a:latin typeface="Segoe UI"/>
              </a:defRPr>
            </a:pPr>
            <a:r>
              <a:t>UI + data model exist, backed by seeded demo data, not a live engine.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44752"/>
            <a:ext cx="2697480" cy="2468880"/>
          </a:xfrm>
          <a:prstGeom prst="roundRect">
            <a:avLst/>
          </a:prstGeom>
          <a:solidFill>
            <a:srgbClr val="F0EAFE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50" b="0">
                <a:solidFill>
                  <a:srgbClr val="101827"/>
                </a:solidFill>
                <a:latin typeface="Segoe U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46520" y="1645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01827"/>
                </a:solidFill>
                <a:latin typeface="Segoe UI"/>
              </a:defRPr>
            </a:pPr>
            <a:r>
              <a:t>Proposed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30552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5B6478"/>
                </a:solidFill>
                <a:latin typeface="Segoe UI"/>
              </a:defRPr>
            </a:pPr>
            <a:r>
              <a:t>Recommended design for an open PRD question — needs your sign-off.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444752"/>
            <a:ext cx="2697480" cy="2468880"/>
          </a:xfrm>
          <a:prstGeom prst="roundRect">
            <a:avLst/>
          </a:prstGeom>
          <a:solidFill>
            <a:srgbClr val="F0F2F7"/>
          </a:solidFill>
          <a:ln w="19050">
            <a:solidFill>
              <a:srgbClr val="9AA2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50" b="0">
                <a:solidFill>
                  <a:srgbClr val="101827"/>
                </a:solidFill>
                <a:latin typeface="Segoe UI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9326880" y="1645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01827"/>
                </a:solidFill>
                <a:latin typeface="Segoe UI"/>
              </a:defRPr>
            </a:pPr>
            <a:r>
              <a:t>Planned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130552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5B6478"/>
                </a:solidFill>
                <a:latin typeface="Segoe UI"/>
              </a:defRPr>
            </a:pPr>
            <a:r>
              <a:t>Designed, not yet built — telemetry, live events, PDF reports, paging.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879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1">
                <a:solidFill>
                  <a:srgbClr val="5B6478"/>
                </a:solidFill>
                <a:latin typeface="Segoe UI"/>
              </a:defRPr>
            </a:pPr>
            <a:r>
              <a:t>Approval needed on: invite-only registration (no public sign-up), OTP method priority (authenticator app vs. email vs. SMS), and Grafana access for Viewer roles — flagged again at each relevant slide.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F5FE0"/>
                </a:solidFill>
                <a:latin typeface="Segoe UI"/>
              </a:defRPr>
            </a:pPr>
            <a:r>
              <a:t>ACCOUNT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827"/>
                </a:solidFill>
                <a:latin typeface="Segoe UI"/>
              </a:defRPr>
            </a:pPr>
            <a:r>
              <a:t>Platform Provisioning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B6478"/>
                </a:solidFill>
                <a:latin typeface="Segoe UI"/>
              </a:defRPr>
            </a:pPr>
            <a:r>
              <a:t>Who creates whom. Every account traces back to EMPM's own superadmin — nobody signs up on their own.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783080"/>
            <a:ext cx="2286000" cy="77724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50" b="0">
                <a:solidFill>
                  <a:srgbClr val="101827"/>
                </a:solidFill>
                <a:latin typeface="Segoe UI"/>
              </a:defRPr>
            </a:pPr>
            <a:r>
              <a:t>EMPM Superadmin</a:t>
            </a:r>
          </a:p>
          <a:p>
            <a:pPr algn="ctr">
              <a:defRPr sz="1050" b="0">
                <a:solidFill>
                  <a:srgbClr val="101827"/>
                </a:solidFill>
                <a:latin typeface="Segoe UI"/>
              </a:defRPr>
            </a:pPr>
            <a:r>
              <a:t>(platform staff)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587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5B6478"/>
                </a:solidFill>
                <a:latin typeface="Segoe UI"/>
              </a:defRPr>
            </a:pPr>
            <a:r>
              <a:t>creates Resellers, invites Reseller Admins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3017520"/>
            <a:ext cx="2286000" cy="77724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50" b="0">
                <a:solidFill>
                  <a:srgbClr val="101827"/>
                </a:solidFill>
                <a:latin typeface="Segoe UI"/>
              </a:defRPr>
            </a:pPr>
            <a:r>
              <a:t>Reseller</a:t>
            </a:r>
          </a:p>
          <a:p>
            <a:pPr algn="ctr">
              <a:defRPr sz="1050" b="0">
                <a:solidFill>
                  <a:srgbClr val="101827"/>
                </a:solidFill>
                <a:latin typeface="Segoe UI"/>
              </a:defRPr>
            </a:pPr>
            <a:r>
              <a:t>(organization)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017520"/>
            <a:ext cx="2286000" cy="77724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50" b="0">
                <a:solidFill>
                  <a:srgbClr val="101827"/>
                </a:solidFill>
                <a:latin typeface="Segoe UI"/>
              </a:defRPr>
            </a:pPr>
            <a:r>
              <a:t>Reseller Admin</a:t>
            </a:r>
          </a:p>
          <a:p>
            <a:pPr algn="ctr">
              <a:defRPr sz="1050" b="0">
                <a:solidFill>
                  <a:srgbClr val="101827"/>
                </a:solidFill>
                <a:latin typeface="Segoe UI"/>
              </a:defRPr>
            </a:pPr>
            <a:r>
              <a:t>(person)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3154680" y="2560320"/>
            <a:ext cx="2926080" cy="45720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114800" y="2660903"/>
            <a:ext cx="1005840" cy="256032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2642615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5B6478"/>
                </a:solidFill>
                <a:latin typeface="Segoe UI"/>
              </a:defRPr>
            </a:pPr>
            <a:r>
              <a:t>creates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2560320"/>
            <a:ext cx="2926080" cy="45720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040880" y="2660903"/>
            <a:ext cx="1005840" cy="256032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2642615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5B6478"/>
                </a:solidFill>
                <a:latin typeface="Segoe UI"/>
              </a:defRPr>
            </a:pPr>
            <a:r>
              <a:t>invites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8221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5B6478"/>
                </a:solidFill>
                <a:latin typeface="Segoe UI"/>
              </a:defRPr>
            </a:pPr>
            <a:r>
              <a:t>creates Companies, invites Company Admins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4251960"/>
            <a:ext cx="2286000" cy="77724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50" b="0">
                <a:solidFill>
                  <a:srgbClr val="101827"/>
                </a:solidFill>
                <a:latin typeface="Segoe UI"/>
              </a:defRPr>
            </a:pPr>
            <a:r>
              <a:t>Company</a:t>
            </a:r>
          </a:p>
          <a:p>
            <a:pPr algn="ctr">
              <a:defRPr sz="1050" b="0">
                <a:solidFill>
                  <a:srgbClr val="101827"/>
                </a:solidFill>
                <a:latin typeface="Segoe UI"/>
              </a:defRPr>
            </a:pPr>
            <a:r>
              <a:t>(customer facility group)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4251960"/>
            <a:ext cx="2286000" cy="77724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50" b="0">
                <a:solidFill>
                  <a:srgbClr val="101827"/>
                </a:solidFill>
                <a:latin typeface="Segoe UI"/>
              </a:defRPr>
            </a:pPr>
            <a:r>
              <a:t>Company Admin</a:t>
            </a:r>
          </a:p>
          <a:p>
            <a:pPr algn="ctr">
              <a:defRPr sz="1050" b="0">
                <a:solidFill>
                  <a:srgbClr val="101827"/>
                </a:solidFill>
                <a:latin typeface="Segoe UI"/>
              </a:defRPr>
            </a:pPr>
            <a:r>
              <a:t>(person)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3154680" y="3794760"/>
            <a:ext cx="5852160" cy="45720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577840" y="3895344"/>
            <a:ext cx="1005840" cy="256032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7800" y="387705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5B6478"/>
                </a:solidFill>
                <a:latin typeface="Segoe UI"/>
              </a:defRPr>
            </a:pPr>
            <a:r>
              <a:t>creates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06840" y="3794760"/>
            <a:ext cx="0" cy="45720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8503919" y="3895344"/>
            <a:ext cx="1005840" cy="256032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79" y="387705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5B6478"/>
                </a:solidFill>
                <a:latin typeface="Segoe UI"/>
              </a:defRPr>
            </a:pPr>
            <a:r>
              <a:t>invites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056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5B6478"/>
                </a:solidFill>
                <a:latin typeface="Segoe UI"/>
              </a:defRPr>
            </a:pPr>
            <a:r>
              <a:t>invites Users, assigns role + scope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0" y="5486400"/>
            <a:ext cx="2286000" cy="77724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50" b="0">
                <a:solidFill>
                  <a:srgbClr val="101827"/>
                </a:solidFill>
                <a:latin typeface="Segoe UI"/>
              </a:defRPr>
            </a:pPr>
            <a:r>
              <a:t>Users</a:t>
            </a:r>
          </a:p>
          <a:p>
            <a:pPr algn="ctr">
              <a:defRPr sz="1050" b="0">
                <a:solidFill>
                  <a:srgbClr val="101827"/>
                </a:solidFill>
                <a:latin typeface="Segoe UI"/>
              </a:defRPr>
            </a:pPr>
            <a:r>
              <a:t>(System Operator / Viewer)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6080760" y="5029200"/>
            <a:ext cx="2926080" cy="45720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040880" y="5129784"/>
            <a:ext cx="1005840" cy="256032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511149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5B6478"/>
                </a:solidFill>
                <a:latin typeface="Segoe UI"/>
              </a:defRPr>
            </a:pPr>
            <a:r>
              <a:t>invites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92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1">
                <a:solidFill>
                  <a:srgbClr val="6D28D9"/>
                </a:solidFill>
                <a:latin typeface="Segoe UI"/>
              </a:defRPr>
            </a:pPr>
            <a:r>
              <a:t>No self-registration anywhere in this chain — an account only exists because someone above it created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F5FE0"/>
                </a:solidFill>
                <a:latin typeface="Segoe UI"/>
              </a:defRPr>
            </a:pPr>
            <a:r>
              <a:t>PROPOSED — NEEDS SIGN-OFF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827"/>
                </a:solidFill>
                <a:latin typeface="Segoe UI"/>
              </a:defRPr>
            </a:pPr>
            <a:r>
              <a:t>User Invitation &amp; Registration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B6478"/>
                </a:solidFill>
                <a:latin typeface="Segoe UI"/>
              </a:defRPr>
            </a:pPr>
            <a:r>
              <a:t>Proposed: invite-only onboarding replaces open sign-up — matches the provisioning hierarchy and keeps every account traceable to an admin.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468880" cy="685800"/>
          </a:xfrm>
          <a:prstGeom prst="roundRect">
            <a:avLst/>
          </a:prstGeom>
          <a:solidFill>
            <a:srgbClr val="F0EAFE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Admin clicks “Invite User”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88920"/>
            <a:ext cx="2468880" cy="777240"/>
          </a:xfrm>
          <a:prstGeom prst="roundRect">
            <a:avLst/>
          </a:prstGeom>
          <a:solidFill>
            <a:srgbClr val="F0EAFE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Enters email, name,</a:t>
            </a:r>
          </a:p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role + scope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423160"/>
            <a:ext cx="0" cy="365760"/>
          </a:xfrm>
          <a:prstGeom prst="bentConnector3">
            <a:avLst/>
          </a:prstGeom>
          <a:ln w="15875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66160" y="2788920"/>
            <a:ext cx="2651760" cy="777240"/>
          </a:xfrm>
          <a:prstGeom prst="roundRect">
            <a:avLst/>
          </a:prstGeom>
          <a:solidFill>
            <a:srgbClr val="F0EAFE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950" b="0">
                <a:solidFill>
                  <a:srgbClr val="101827"/>
                </a:solidFill>
                <a:latin typeface="Segoe UI"/>
              </a:defRPr>
            </a:pPr>
            <a:r>
              <a:t>System creates pending</a:t>
            </a:r>
          </a:p>
          <a:p>
            <a:pPr algn="ctr">
              <a:defRPr sz="950" b="0">
                <a:solidFill>
                  <a:srgbClr val="101827"/>
                </a:solidFill>
                <a:latin typeface="Segoe UI"/>
              </a:defRPr>
            </a:pPr>
            <a:r>
              <a:t>Zitadel identity + local</a:t>
            </a:r>
          </a:p>
          <a:p>
            <a:pPr algn="ctr">
              <a:defRPr sz="950" b="0">
                <a:solidFill>
                  <a:srgbClr val="101827"/>
                </a:solidFill>
                <a:latin typeface="Segoe UI"/>
              </a:defRPr>
            </a:pPr>
            <a:r>
              <a:t>user row (role pre-set)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17520" y="3177540"/>
            <a:ext cx="548640" cy="0"/>
          </a:xfrm>
          <a:prstGeom prst="bentConnector3">
            <a:avLst/>
          </a:prstGeom>
          <a:ln w="15875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766559" y="2788920"/>
            <a:ext cx="2468880" cy="777240"/>
          </a:xfrm>
          <a:prstGeom prst="roundRect">
            <a:avLst/>
          </a:prstGeom>
          <a:solidFill>
            <a:srgbClr val="F0EAFE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950" b="0">
                <a:solidFill>
                  <a:srgbClr val="101827"/>
                </a:solidFill>
                <a:latin typeface="Segoe UI"/>
              </a:defRPr>
            </a:pPr>
            <a:r>
              <a:t>Invitation email sent</a:t>
            </a:r>
          </a:p>
          <a:p>
            <a:pPr algn="ctr">
              <a:defRPr sz="950" b="0">
                <a:solidFill>
                  <a:srgbClr val="101827"/>
                </a:solidFill>
                <a:latin typeface="Segoe UI"/>
              </a:defRPr>
            </a:pPr>
            <a:r>
              <a:t>with signup link</a:t>
            </a:r>
          </a:p>
          <a:p>
            <a:pPr algn="ctr">
              <a:defRPr sz="950" b="0">
                <a:solidFill>
                  <a:srgbClr val="101827"/>
                </a:solidFill>
                <a:latin typeface="Segoe UI"/>
              </a:defRPr>
            </a:pPr>
            <a:r>
              <a:t>(expires in 7 days)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17920" y="3177540"/>
            <a:ext cx="548639" cy="0"/>
          </a:xfrm>
          <a:prstGeom prst="bentConnector3">
            <a:avLst/>
          </a:prstGeom>
          <a:ln w="15875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766559" y="4023360"/>
            <a:ext cx="2468880" cy="594360"/>
          </a:xfrm>
          <a:prstGeom prst="roundRect">
            <a:avLst/>
          </a:prstGeom>
          <a:solidFill>
            <a:srgbClr val="F0EAFE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Invitee opens link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00999" y="3566160"/>
            <a:ext cx="0" cy="457200"/>
          </a:xfrm>
          <a:prstGeom prst="bentConnector3">
            <a:avLst/>
          </a:prstGeom>
          <a:ln w="15875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566160" y="4023360"/>
            <a:ext cx="2651760" cy="594360"/>
          </a:xfrm>
          <a:prstGeom prst="roundRect">
            <a:avLst/>
          </a:prstGeom>
          <a:solidFill>
            <a:srgbClr val="F0EAFE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Sets password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6217920" y="4320540"/>
            <a:ext cx="548639" cy="0"/>
          </a:xfrm>
          <a:prstGeom prst="bentConnector3">
            <a:avLst/>
          </a:prstGeom>
          <a:ln w="15875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48640" y="4023360"/>
            <a:ext cx="2468880" cy="594360"/>
          </a:xfrm>
          <a:prstGeom prst="roundRect">
            <a:avLst/>
          </a:prstGeom>
          <a:solidFill>
            <a:srgbClr val="F0EAFE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950" b="0">
                <a:solidFill>
                  <a:srgbClr val="101827"/>
                </a:solidFill>
                <a:latin typeface="Segoe UI"/>
              </a:defRPr>
            </a:pPr>
            <a:r>
              <a:t>Sets up 2FA / OTP</a:t>
            </a:r>
          </a:p>
          <a:p>
            <a:pPr algn="ctr">
              <a:defRPr sz="950" b="0">
                <a:solidFill>
                  <a:srgbClr val="101827"/>
                </a:solidFill>
                <a:latin typeface="Segoe UI"/>
              </a:defRPr>
            </a:pPr>
            <a:r>
              <a:t>(see next slide)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017520" y="4320540"/>
            <a:ext cx="548640" cy="0"/>
          </a:xfrm>
          <a:prstGeom prst="bentConnector3">
            <a:avLst/>
          </a:prstGeom>
          <a:ln w="15875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48640" y="5074920"/>
            <a:ext cx="2468880" cy="59436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Account activated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783080" y="4617720"/>
            <a:ext cx="0" cy="45720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566160" y="5074920"/>
            <a:ext cx="2651760" cy="59436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Redirected to Login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017520" y="5372100"/>
            <a:ext cx="548640" cy="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589788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1">
                <a:solidFill>
                  <a:srgbClr val="5B6478"/>
                </a:solidFill>
                <a:latin typeface="Segoe UI"/>
              </a:defRPr>
            </a:pPr>
            <a:r>
              <a:t>Today's build auto-provisions on first login instead (no invite email) — this flow replaces that once approved.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F5FE0"/>
                </a:solidFill>
                <a:latin typeface="Segoe UI"/>
              </a:defRPr>
            </a:pPr>
            <a:r>
              <a:t>BUILT · ZITADEL-BACKED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827"/>
                </a:solidFill>
                <a:latin typeface="Segoe UI"/>
              </a:defRPr>
            </a:pPr>
            <a:r>
              <a:t>Login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B6478"/>
                </a:solidFill>
                <a:latin typeface="Segoe UI"/>
              </a:defRPr>
            </a:pPr>
            <a:r>
              <a:t>Password plus a mandatory second factor for every account — no exceptions once 2FA setup (previous slide) is complete.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737360"/>
            <a:ext cx="2148840" cy="777240"/>
          </a:xfrm>
          <a:prstGeom prst="ellipse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User opens</a:t>
            </a:r>
          </a:p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EMPM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737360"/>
            <a:ext cx="2148840" cy="77724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Redirected to</a:t>
            </a:r>
          </a:p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Zitadel login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97480" y="2125980"/>
            <a:ext cx="228600" cy="0"/>
          </a:xfrm>
          <a:prstGeom prst="line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303520" y="1737360"/>
            <a:ext cx="2148840" cy="77724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Enters email</a:t>
            </a:r>
          </a:p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+ password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74920" y="2125980"/>
            <a:ext cx="228600" cy="0"/>
          </a:xfrm>
          <a:prstGeom prst="line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7680960" y="1737360"/>
            <a:ext cx="2148840" cy="86868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89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Credentials</a:t>
            </a:r>
          </a:p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valid?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52360" y="2125980"/>
            <a:ext cx="228600" cy="45720"/>
          </a:xfrm>
          <a:prstGeom prst="line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303520" y="3017520"/>
            <a:ext cx="2148840" cy="594360"/>
          </a:xfrm>
          <a:prstGeom prst="roundRect">
            <a:avLst/>
          </a:prstGeom>
          <a:solidFill>
            <a:srgbClr val="FBF1DD"/>
          </a:solidFill>
          <a:ln w="15875">
            <a:solidFill>
              <a:srgbClr val="A86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900" b="0">
                <a:solidFill>
                  <a:srgbClr val="101827"/>
                </a:solidFill>
                <a:latin typeface="Segoe UI"/>
              </a:defRPr>
            </a:pPr>
            <a:r>
              <a:t>Error shown,</a:t>
            </a:r>
          </a:p>
          <a:p>
            <a:pPr algn="ctr">
              <a:defRPr sz="900" b="0">
                <a:solidFill>
                  <a:srgbClr val="101827"/>
                </a:solidFill>
                <a:latin typeface="Segoe UI"/>
              </a:defRPr>
            </a:pPr>
            <a:r>
              <a:t>retry (lockout after 5)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6377940" y="2606040"/>
            <a:ext cx="2377440" cy="411480"/>
          </a:xfrm>
          <a:prstGeom prst="bentConnector3">
            <a:avLst/>
          </a:prstGeom>
          <a:ln w="15875">
            <a:solidFill>
              <a:srgbClr val="C036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063739" y="2683764"/>
            <a:ext cx="1005840" cy="256032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43699" y="266547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5B6478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1737360"/>
            <a:ext cx="2148840" cy="86868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OTP / 2FA</a:t>
            </a:r>
          </a:p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challenge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680960" y="2171700"/>
            <a:ext cx="2148840" cy="0"/>
          </a:xfrm>
          <a:prstGeom prst="bentConnector3">
            <a:avLst/>
          </a:prstGeom>
          <a:ln w="15875">
            <a:solidFill>
              <a:srgbClr val="1680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252459" y="2043684"/>
            <a:ext cx="1005840" cy="256032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32419" y="2025395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5B6478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21" name="Diamond 20"/>
          <p:cNvSpPr/>
          <p:nvPr/>
        </p:nvSpPr>
        <p:spPr>
          <a:xfrm>
            <a:off x="7680960" y="3017520"/>
            <a:ext cx="2148840" cy="6858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89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Code valid?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55380" y="2606040"/>
            <a:ext cx="0" cy="41148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7452360" y="3314700"/>
            <a:ext cx="228600" cy="45720"/>
          </a:xfrm>
          <a:prstGeom prst="line">
            <a:avLst/>
          </a:prstGeom>
          <a:ln w="15875">
            <a:solidFill>
              <a:srgbClr val="C036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063740" y="3209544"/>
            <a:ext cx="1005840" cy="256032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43700" y="319125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5B6478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160520"/>
            <a:ext cx="2468880" cy="64008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Zitadel issues</a:t>
            </a:r>
          </a:p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authorization code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1783080" y="3703320"/>
            <a:ext cx="6972300" cy="457200"/>
          </a:xfrm>
          <a:prstGeom prst="bentConnector3">
            <a:avLst/>
          </a:prstGeom>
          <a:ln w="15875">
            <a:solidFill>
              <a:srgbClr val="1680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4766309" y="3803904"/>
            <a:ext cx="1005840" cy="256032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46269" y="37856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5B6478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4160520"/>
            <a:ext cx="2468880" cy="64008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950" b="0">
                <a:solidFill>
                  <a:srgbClr val="101827"/>
                </a:solidFill>
                <a:latin typeface="Segoe UI"/>
              </a:defRPr>
            </a:pPr>
            <a:r>
              <a:t>App exchanges code</a:t>
            </a:r>
          </a:p>
          <a:p>
            <a:pPr algn="ctr">
              <a:defRPr sz="950" b="0">
                <a:solidFill>
                  <a:srgbClr val="101827"/>
                </a:solidFill>
                <a:latin typeface="Segoe UI"/>
              </a:defRPr>
            </a:pPr>
            <a:r>
              <a:t>for tokens (PKCE)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17520" y="4480560"/>
            <a:ext cx="365760" cy="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17920" y="4160520"/>
            <a:ext cx="2468880" cy="64008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950" b="0">
                <a:solidFill>
                  <a:srgbClr val="101827"/>
                </a:solidFill>
                <a:latin typeface="Segoe UI"/>
              </a:defRPr>
            </a:pPr>
            <a:r>
              <a:t>Backend verifies JWT</a:t>
            </a:r>
          </a:p>
          <a:p>
            <a:pPr algn="ctr">
              <a:defRPr sz="950" b="0">
                <a:solidFill>
                  <a:srgbClr val="101827"/>
                </a:solidFill>
                <a:latin typeface="Segoe UI"/>
              </a:defRPr>
            </a:pPr>
            <a:r>
              <a:t>against Zitadel JWKS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852160" y="4480560"/>
            <a:ext cx="365760" cy="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052560" y="4160520"/>
            <a:ext cx="2468880" cy="64008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950" b="0">
                <a:solidFill>
                  <a:srgbClr val="101827"/>
                </a:solidFill>
                <a:latin typeface="Segoe UI"/>
              </a:defRPr>
            </a:pPr>
            <a:r>
              <a:t>Authorization check</a:t>
            </a:r>
          </a:p>
          <a:p>
            <a:pPr algn="ctr">
              <a:defRPr sz="950" b="0">
                <a:solidFill>
                  <a:srgbClr val="101827"/>
                </a:solidFill>
                <a:latin typeface="Segoe UI"/>
              </a:defRPr>
            </a:pPr>
            <a:r>
              <a:t>(next slide)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686800" y="4480560"/>
            <a:ext cx="365760" cy="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749039" y="5212080"/>
            <a:ext cx="5029200" cy="64008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50" b="0">
                <a:solidFill>
                  <a:srgbClr val="101827"/>
                </a:solidFill>
                <a:latin typeface="Segoe UI"/>
              </a:defRPr>
            </a:pPr>
            <a:r>
              <a:t>Routed to role-appropriate landing page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6263640" y="4800600"/>
            <a:ext cx="4023360" cy="41148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F5FE0"/>
                </a:solidFill>
                <a:latin typeface="Segoe UI"/>
              </a:defRPr>
            </a:pPr>
            <a:r>
              <a:t>PROPOSED — METHOD PRIORITY NEEDS SIGN-OFF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827"/>
                </a:solidFill>
                <a:latin typeface="Segoe UI"/>
              </a:defRPr>
            </a:pPr>
            <a:r>
              <a:t>OTP / Two-Factor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B6478"/>
                </a:solidFill>
                <a:latin typeface="Segoe UI"/>
              </a:defRPr>
            </a:pPr>
            <a:r>
              <a:t>Authenticator app is the recommended default (built into Zitadel, no extra cost). SMS requires the paid subscription noted in the PRD.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377440" cy="77724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First login prompts</a:t>
            </a:r>
          </a:p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2FA setup</a:t>
            </a:r>
          </a:p>
        </p:txBody>
      </p:sp>
      <p:sp>
        <p:nvSpPr>
          <p:cNvPr id="7" name="Diamond 6"/>
          <p:cNvSpPr/>
          <p:nvPr/>
        </p:nvSpPr>
        <p:spPr>
          <a:xfrm>
            <a:off x="3291840" y="1737360"/>
            <a:ext cx="2377440" cy="86868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89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Choose method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2125980"/>
            <a:ext cx="365760" cy="4572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126480" y="1554480"/>
            <a:ext cx="2651760" cy="77724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900" b="0">
                <a:solidFill>
                  <a:srgbClr val="101827"/>
                </a:solidFill>
                <a:latin typeface="Segoe UI"/>
              </a:defRPr>
            </a:pPr>
            <a:r>
              <a:t>① Authenticator App (TOTP)</a:t>
            </a:r>
          </a:p>
          <a:p>
            <a:pPr algn="ctr">
              <a:defRPr sz="900" b="0">
                <a:solidFill>
                  <a:srgbClr val="101827"/>
                </a:solidFill>
                <a:latin typeface="Segoe UI"/>
              </a:defRPr>
            </a:pPr>
            <a:r>
              <a:t>Default — no extra 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468880"/>
            <a:ext cx="2651760" cy="77724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900" b="0">
                <a:solidFill>
                  <a:srgbClr val="101827"/>
                </a:solidFill>
                <a:latin typeface="Segoe UI"/>
              </a:defRPr>
            </a:pPr>
            <a:r>
              <a:t>② Email OTP</a:t>
            </a:r>
          </a:p>
          <a:p>
            <a:pPr algn="ctr">
              <a:defRPr sz="900" b="0">
                <a:solidFill>
                  <a:srgbClr val="101827"/>
                </a:solidFill>
                <a:latin typeface="Segoe UI"/>
              </a:defRPr>
            </a:pPr>
            <a:r>
              <a:t>Built into Zitadel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383280"/>
            <a:ext cx="2651760" cy="777240"/>
          </a:xfrm>
          <a:prstGeom prst="roundRect">
            <a:avLst/>
          </a:prstGeom>
          <a:solidFill>
            <a:srgbClr val="F0EAFE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900" b="0">
                <a:solidFill>
                  <a:srgbClr val="101827"/>
                </a:solidFill>
                <a:latin typeface="Segoe UI"/>
              </a:defRPr>
            </a:pPr>
            <a:r>
              <a:t>③ SMS OTP</a:t>
            </a:r>
          </a:p>
          <a:p>
            <a:pPr algn="ctr">
              <a:defRPr sz="900" b="0">
                <a:solidFill>
                  <a:srgbClr val="101827"/>
                </a:solidFill>
                <a:latin typeface="Segoe UI"/>
              </a:defRPr>
            </a:pPr>
            <a:r>
              <a:t>Requires SMS subscription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5669280" y="1943100"/>
            <a:ext cx="457200" cy="22860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669280" y="2171700"/>
            <a:ext cx="457200" cy="68580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669280" y="2171700"/>
            <a:ext cx="457200" cy="1600200"/>
          </a:xfrm>
          <a:prstGeom prst="bentConnector3">
            <a:avLst/>
          </a:prstGeom>
          <a:ln w="15875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235440" y="1554480"/>
            <a:ext cx="2377440" cy="77724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900" b="0">
                <a:solidFill>
                  <a:srgbClr val="101827"/>
                </a:solidFill>
                <a:latin typeface="Segoe UI"/>
              </a:defRPr>
            </a:pPr>
            <a:r>
              <a:t>Scan QR, confirm</a:t>
            </a:r>
          </a:p>
          <a:p>
            <a:pPr algn="ctr">
              <a:defRPr sz="900" b="0">
                <a:solidFill>
                  <a:srgbClr val="101827"/>
                </a:solidFill>
                <a:latin typeface="Segoe UI"/>
              </a:defRPr>
            </a:pPr>
            <a:r>
              <a:t>with 6-digit 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2468880"/>
            <a:ext cx="2377440" cy="77724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900" b="0">
                <a:solidFill>
                  <a:srgbClr val="101827"/>
                </a:solidFill>
                <a:latin typeface="Segoe UI"/>
              </a:defRPr>
            </a:pPr>
            <a:r>
              <a:t>Code emailed,</a:t>
            </a:r>
          </a:p>
          <a:p>
            <a:pPr algn="ctr">
              <a:defRPr sz="900" b="0">
                <a:solidFill>
                  <a:srgbClr val="101827"/>
                </a:solidFill>
                <a:latin typeface="Segoe UI"/>
              </a:defRPr>
            </a:pPr>
            <a:r>
              <a:t>enter to confirm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3383280"/>
            <a:ext cx="2377440" cy="777240"/>
          </a:xfrm>
          <a:prstGeom prst="roundRect">
            <a:avLst/>
          </a:prstGeom>
          <a:solidFill>
            <a:srgbClr val="F0EAFE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900" b="0">
                <a:solidFill>
                  <a:srgbClr val="101827"/>
                </a:solidFill>
                <a:latin typeface="Segoe UI"/>
              </a:defRPr>
            </a:pPr>
            <a:r>
              <a:t>Code texted,</a:t>
            </a:r>
          </a:p>
          <a:p>
            <a:pPr algn="ctr">
              <a:defRPr sz="900" b="0">
                <a:solidFill>
                  <a:srgbClr val="101827"/>
                </a:solidFill>
                <a:latin typeface="Segoe UI"/>
              </a:defRPr>
            </a:pPr>
            <a:r>
              <a:t>enter to confirm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78240" y="1943100"/>
            <a:ext cx="457200" cy="0"/>
          </a:xfrm>
          <a:prstGeom prst="line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778240" y="2857500"/>
            <a:ext cx="457200" cy="0"/>
          </a:xfrm>
          <a:prstGeom prst="line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778240" y="3771900"/>
            <a:ext cx="457200" cy="0"/>
          </a:xfrm>
          <a:prstGeom prst="line">
            <a:avLst/>
          </a:prstGeom>
          <a:ln w="15875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448056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01827"/>
                </a:solidFill>
                <a:latin typeface="Segoe UI"/>
              </a:defRPr>
            </a:pPr>
            <a:r>
              <a:t>On every subsequent login: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92040"/>
            <a:ext cx="2377440" cy="59436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Password accepted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4892040"/>
            <a:ext cx="2377440" cy="59436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Prompted for OTP code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926080" y="5189220"/>
            <a:ext cx="365760" cy="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Diamond 24"/>
          <p:cNvSpPr/>
          <p:nvPr/>
        </p:nvSpPr>
        <p:spPr>
          <a:xfrm>
            <a:off x="6035040" y="4892040"/>
            <a:ext cx="2377440" cy="6858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89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Code valid?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69280" y="5189220"/>
            <a:ext cx="365760" cy="4572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778240" y="4800600"/>
            <a:ext cx="2377440" cy="59436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Session starts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8412480" y="5097780"/>
            <a:ext cx="365760" cy="137160"/>
          </a:xfrm>
          <a:prstGeom prst="bentConnector3">
            <a:avLst/>
          </a:prstGeom>
          <a:ln w="15875">
            <a:solidFill>
              <a:srgbClr val="1680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8092439" y="5038344"/>
            <a:ext cx="1005840" cy="256032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399" y="502005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5B6478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78240" y="5669280"/>
            <a:ext cx="2377440" cy="594360"/>
          </a:xfrm>
          <a:prstGeom prst="roundRect">
            <a:avLst/>
          </a:prstGeom>
          <a:solidFill>
            <a:srgbClr val="FBF1DD"/>
          </a:solidFill>
          <a:ln w="15875">
            <a:solidFill>
              <a:srgbClr val="A86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900" b="0">
                <a:solidFill>
                  <a:srgbClr val="101827"/>
                </a:solidFill>
                <a:latin typeface="Segoe UI"/>
              </a:defRPr>
            </a:pPr>
            <a:r>
              <a:t>Retry — locked after</a:t>
            </a:r>
          </a:p>
          <a:p>
            <a:pPr algn="ctr">
              <a:defRPr sz="900" b="0">
                <a:solidFill>
                  <a:srgbClr val="101827"/>
                </a:solidFill>
                <a:latin typeface="Segoe UI"/>
              </a:defRPr>
            </a:pPr>
            <a:r>
              <a:t>5 failed attempts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223760" y="5577840"/>
            <a:ext cx="2743200" cy="91440"/>
          </a:xfrm>
          <a:prstGeom prst="bentConnector3">
            <a:avLst/>
          </a:prstGeom>
          <a:ln w="15875">
            <a:solidFill>
              <a:srgbClr val="C036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8092440" y="5495544"/>
            <a:ext cx="1005840" cy="256032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547725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5B6478"/>
                </a:solidFill>
                <a:latin typeface="Segoe UI"/>
              </a:defRPr>
            </a:pPr>
            <a:r>
              <a:t>No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F5FE0"/>
                </a:solidFill>
                <a:latin typeface="Segoe UI"/>
              </a:defRPr>
            </a:pPr>
            <a:r>
              <a:t>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827"/>
                </a:solidFill>
                <a:latin typeface="Segoe UI"/>
              </a:defRPr>
            </a:pPr>
            <a:r>
              <a:t>Authorization — Every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B6478"/>
                </a:solidFill>
                <a:latin typeface="Segoe UI"/>
              </a:defRPr>
            </a:pPr>
            <a:r>
              <a:t>Zitadel proves identity only. EMPM's own database is the sole source of what a signed-in user is allowed to see or 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377440" cy="64008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API request arrives</a:t>
            </a:r>
          </a:p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with bearer token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828800"/>
            <a:ext cx="2377440" cy="64008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950" b="0">
                <a:solidFill>
                  <a:srgbClr val="101827"/>
                </a:solidFill>
                <a:latin typeface="Segoe UI"/>
              </a:defRPr>
            </a:pPr>
            <a:r>
              <a:t>Verify signature +</a:t>
            </a:r>
          </a:p>
          <a:p>
            <a:pPr algn="ctr">
              <a:defRPr sz="950" b="0">
                <a:solidFill>
                  <a:srgbClr val="101827"/>
                </a:solidFill>
                <a:latin typeface="Segoe UI"/>
              </a:defRPr>
            </a:pPr>
            <a:r>
              <a:t>expiry vs. Zitadel JWKS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2148840"/>
            <a:ext cx="320040" cy="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943600" y="1828800"/>
            <a:ext cx="2377440" cy="64008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950" b="0">
                <a:solidFill>
                  <a:srgbClr val="101827"/>
                </a:solidFill>
                <a:latin typeface="Segoe UI"/>
              </a:defRPr>
            </a:pPr>
            <a:r>
              <a:t>Look up local user</a:t>
            </a:r>
          </a:p>
          <a:p>
            <a:pPr algn="ctr">
              <a:defRPr sz="950" b="0">
                <a:solidFill>
                  <a:srgbClr val="101827"/>
                </a:solidFill>
                <a:latin typeface="Segoe UI"/>
              </a:defRPr>
            </a:pPr>
            <a:r>
              <a:t>by Zitadel subject id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23560" y="2148840"/>
            <a:ext cx="320040" cy="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8641080" y="1783080"/>
            <a:ext cx="2651760" cy="77724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89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950" b="0">
                <a:solidFill>
                  <a:srgbClr val="101827"/>
                </a:solidFill>
                <a:latin typeface="Segoe UI"/>
              </a:defRPr>
            </a:pPr>
            <a:r>
              <a:t>Active + role</a:t>
            </a:r>
          </a:p>
          <a:p>
            <a:pPr algn="ctr">
              <a:defRPr sz="950" b="0">
                <a:solidFill>
                  <a:srgbClr val="101827"/>
                </a:solidFill>
                <a:latin typeface="Segoe UI"/>
              </a:defRPr>
            </a:pPr>
            <a:r>
              <a:t>assigned?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21040" y="2148840"/>
            <a:ext cx="320040" cy="2286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641080" y="2926080"/>
            <a:ext cx="2651760" cy="548640"/>
          </a:xfrm>
          <a:prstGeom prst="roundRect">
            <a:avLst/>
          </a:prstGeom>
          <a:solidFill>
            <a:srgbClr val="FBE4E1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403 Forbidden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66960" y="2560320"/>
            <a:ext cx="0" cy="365760"/>
          </a:xfrm>
          <a:prstGeom prst="bentConnector3">
            <a:avLst/>
          </a:prstGeom>
          <a:ln w="15875">
            <a:solidFill>
              <a:srgbClr val="C036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464040" y="2615184"/>
            <a:ext cx="1005840" cy="256032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259689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5B6478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2743200" cy="68580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950" b="0">
                <a:solidFill>
                  <a:srgbClr val="101827"/>
                </a:solidFill>
                <a:latin typeface="Segoe UI"/>
              </a:defRPr>
            </a:pPr>
            <a:r>
              <a:t>Resolve scope: reseller_id /</a:t>
            </a:r>
          </a:p>
          <a:p>
            <a:pPr algn="ctr">
              <a:defRPr sz="950" b="0">
                <a:solidFill>
                  <a:srgbClr val="101827"/>
                </a:solidFill>
                <a:latin typeface="Segoe UI"/>
              </a:defRPr>
            </a:pPr>
            <a:r>
              <a:t>company_id / assigned systems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920240" y="2560320"/>
            <a:ext cx="8046719" cy="1371600"/>
          </a:xfrm>
          <a:prstGeom prst="bentConnector3">
            <a:avLst/>
          </a:prstGeom>
          <a:ln w="15875">
            <a:solidFill>
              <a:srgbClr val="1680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440679" y="3118104"/>
            <a:ext cx="1005840" cy="256032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39" y="30998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5B6478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931920"/>
            <a:ext cx="2743200" cy="68580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950" b="0">
                <a:solidFill>
                  <a:srgbClr val="101827"/>
                </a:solidFill>
                <a:latin typeface="Segoe UI"/>
              </a:defRPr>
            </a:pPr>
            <a:r>
              <a:t>Compare requested</a:t>
            </a:r>
          </a:p>
          <a:p>
            <a:pPr algn="ctr">
              <a:defRPr sz="950" b="0">
                <a:solidFill>
                  <a:srgbClr val="101827"/>
                </a:solidFill>
                <a:latin typeface="Segoe UI"/>
              </a:defRPr>
            </a:pPr>
            <a:r>
              <a:t>resource against scope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291840" y="4274820"/>
            <a:ext cx="365760" cy="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Diamond 22"/>
          <p:cNvSpPr/>
          <p:nvPr/>
        </p:nvSpPr>
        <p:spPr>
          <a:xfrm>
            <a:off x="6766559" y="3886200"/>
            <a:ext cx="2468880" cy="77724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89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In scope?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0" y="4274820"/>
            <a:ext cx="365759" cy="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01200" y="3931920"/>
            <a:ext cx="2286000" cy="59436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950" b="0">
                <a:solidFill>
                  <a:srgbClr val="101827"/>
                </a:solidFill>
                <a:latin typeface="Segoe UI"/>
              </a:defRPr>
            </a:pPr>
            <a:r>
              <a:t>200 OK — scoped</a:t>
            </a:r>
          </a:p>
          <a:p>
            <a:pPr algn="ctr">
              <a:defRPr sz="950" b="0">
                <a:solidFill>
                  <a:srgbClr val="101827"/>
                </a:solidFill>
                <a:latin typeface="Segoe UI"/>
              </a:defRPr>
            </a:pPr>
            <a:r>
              <a:t>data returned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9235439" y="4229100"/>
            <a:ext cx="365761" cy="45720"/>
          </a:xfrm>
          <a:prstGeom prst="bentConnector3">
            <a:avLst/>
          </a:prstGeom>
          <a:ln w="15875">
            <a:solidFill>
              <a:srgbClr val="1680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8915399" y="4123944"/>
            <a:ext cx="1005840" cy="256032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59" y="410565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5B6478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0" y="4846320"/>
            <a:ext cx="2286000" cy="548640"/>
          </a:xfrm>
          <a:prstGeom prst="roundRect">
            <a:avLst/>
          </a:prstGeom>
          <a:solidFill>
            <a:srgbClr val="FBE4E1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403 Forbidden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000999" y="4663440"/>
            <a:ext cx="2743201" cy="182880"/>
          </a:xfrm>
          <a:prstGeom prst="bentConnector3">
            <a:avLst/>
          </a:prstGeom>
          <a:ln w="15875">
            <a:solidFill>
              <a:srgbClr val="C036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69679" y="4626864"/>
            <a:ext cx="1005840" cy="256032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39" y="4608575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5B6478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6235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1">
                <a:solidFill>
                  <a:srgbClr val="5B6478"/>
                </a:solidFill>
                <a:latin typeface="Segoe UI"/>
              </a:defRPr>
            </a:pPr>
            <a:r>
              <a:t>This same check runs identically whether the caller is the web app, a future mobile app, or Swagger — no client is trusted, only the token.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F5FE0"/>
                </a:solidFill>
                <a:latin typeface="Segoe UI"/>
              </a:defRPr>
            </a:pPr>
            <a:r>
              <a:t>PROPOSED FOR SIGN-OFF · GRAFANA 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827"/>
                </a:solidFill>
                <a:latin typeface="Segoe UI"/>
              </a:defRPr>
            </a:pPr>
            <a:r>
              <a:t>Role-Based Feature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B6478"/>
                </a:solidFill>
                <a:latin typeface="Segoe UI"/>
              </a:defRPr>
            </a:pPr>
            <a:r>
              <a:t>Expands the core permission matrix with reporting-specific access — the Grafana row is a PRD open question, flagged for confirmation.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91640"/>
          <a:ext cx="11978638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691640"/>
                <a:gridCol w="1874519"/>
                <a:gridCol w="1874519"/>
                <a:gridCol w="1783080"/>
                <a:gridCol w="1737360"/>
              </a:tblGrid>
              <a:tr h="441959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Feature</a:t>
                      </a:r>
                    </a:p>
                  </a:txBody>
                  <a:tcPr anchor="ctr" marL="73152" marR="73152" marT="27432" marB="27432">
                    <a:solidFill>
                      <a:srgbClr val="2F5F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Superadmin</a:t>
                      </a:r>
                    </a:p>
                  </a:txBody>
                  <a:tcPr anchor="ctr" marL="73152" marR="73152" marT="27432" marB="27432">
                    <a:solidFill>
                      <a:srgbClr val="2F5F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Reseller Admin</a:t>
                      </a:r>
                    </a:p>
                  </a:txBody>
                  <a:tcPr anchor="ctr" marL="73152" marR="73152" marT="27432" marB="27432">
                    <a:solidFill>
                      <a:srgbClr val="2F5F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Company Admin</a:t>
                      </a:r>
                    </a:p>
                  </a:txBody>
                  <a:tcPr anchor="ctr" marL="73152" marR="73152" marT="27432" marB="27432">
                    <a:solidFill>
                      <a:srgbClr val="2F5F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Sys Operator</a:t>
                      </a:r>
                    </a:p>
                  </a:txBody>
                  <a:tcPr anchor="ctr" marL="73152" marR="73152" marT="27432" marB="27432">
                    <a:solidFill>
                      <a:srgbClr val="2F5F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Sys Viewer</a:t>
                      </a:r>
                    </a:p>
                  </a:txBody>
                  <a:tcPr anchor="ctr" marL="73152" marR="73152" marT="27432" marB="27432">
                    <a:solidFill>
                      <a:srgbClr val="2F5FE0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01827"/>
                          </a:solidFill>
                          <a:latin typeface="Segoe UI"/>
                        </a:defRPr>
                      </a:pPr>
                      <a:r>
                        <a:t>Manage resellers / companies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6803C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6803C"/>
                          </a:solidFill>
                          <a:latin typeface="Segoe UI"/>
                        </a:defRPr>
                      </a:pPr>
                      <a:r>
                        <a:t>✓ (own)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8A92A6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8A92A6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8A92A6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01827"/>
                          </a:solidFill>
                          <a:latin typeface="Segoe UI"/>
                        </a:defRPr>
                      </a:pPr>
                      <a:r>
                        <a:t>Invite &amp; manage users</a:t>
                      </a:r>
                    </a:p>
                  </a:txBody>
                  <a:tcPr anchor="ctr" marL="73152" marR="73152" marT="27432" marB="27432"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6803C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 anchor="ctr" marL="73152" marR="73152" marT="27432" marB="27432"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6803C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 anchor="ctr" marL="73152" marR="73152" marT="27432" marB="27432"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6803C"/>
                          </a:solidFill>
                          <a:latin typeface="Segoe UI"/>
                        </a:defRPr>
                      </a:pPr>
                      <a:r>
                        <a:t>✓ (own company)</a:t>
                      </a:r>
                    </a:p>
                  </a:txBody>
                  <a:tcPr anchor="ctr" marL="73152" marR="73152" marT="27432" marB="27432"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8A92A6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8A92A6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AF0FE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01827"/>
                          </a:solidFill>
                          <a:latin typeface="Segoe UI"/>
                        </a:defRPr>
                      </a:pPr>
                      <a:r>
                        <a:t>Run equipment tests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6803C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6803C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6803C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6803C"/>
                          </a:solidFill>
                          <a:latin typeface="Segoe UI"/>
                        </a:defRPr>
                      </a:pPr>
                      <a:r>
                        <a:t>✓ (in scope)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8A92A6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01827"/>
                          </a:solidFill>
                          <a:latin typeface="Segoe UI"/>
                        </a:defRPr>
                      </a:pPr>
                      <a:r>
                        <a:t>View system status</a:t>
                      </a:r>
                    </a:p>
                  </a:txBody>
                  <a:tcPr anchor="ctr" marL="73152" marR="73152" marT="27432" marB="27432"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6803C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 anchor="ctr" marL="73152" marR="73152" marT="27432" marB="27432"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6803C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 anchor="ctr" marL="73152" marR="73152" marT="27432" marB="27432"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6803C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 anchor="ctr" marL="73152" marR="73152" marT="27432" marB="27432"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6803C"/>
                          </a:solidFill>
                          <a:latin typeface="Segoe UI"/>
                        </a:defRPr>
                      </a:pPr>
                      <a:r>
                        <a:t>✓ (in scope)</a:t>
                      </a:r>
                    </a:p>
                  </a:txBody>
                  <a:tcPr anchor="ctr" marL="73152" marR="73152" marT="27432" marB="27432"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6803C"/>
                          </a:solidFill>
                          <a:latin typeface="Segoe UI"/>
                        </a:defRPr>
                      </a:pPr>
                      <a:r>
                        <a:t>✓ (in scope)</a:t>
                      </a:r>
                    </a:p>
                  </a:txBody>
                  <a:tcPr anchor="ctr" marL="73152" marR="73152" marT="27432" marB="27432">
                    <a:solidFill>
                      <a:srgbClr val="EAF0FE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01827"/>
                          </a:solidFill>
                          <a:latin typeface="Segoe UI"/>
                        </a:defRPr>
                      </a:pPr>
                      <a:r>
                        <a:t>View standard reports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6803C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6803C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6803C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6803C"/>
                          </a:solidFill>
                          <a:latin typeface="Segoe UI"/>
                        </a:defRPr>
                      </a:pPr>
                      <a:r>
                        <a:t>✓ (in scope)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6803C"/>
                          </a:solidFill>
                          <a:latin typeface="Segoe UI"/>
                        </a:defRPr>
                      </a:pPr>
                      <a:r>
                        <a:t>✓ (in scope)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01827"/>
                          </a:solidFill>
                          <a:latin typeface="Segoe UI"/>
                        </a:defRPr>
                      </a:pPr>
                      <a:r>
                        <a:t>ATS compliance report</a:t>
                      </a:r>
                    </a:p>
                  </a:txBody>
                  <a:tcPr anchor="ctr" marL="73152" marR="73152" marT="27432" marB="27432"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6803C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 anchor="ctr" marL="73152" marR="73152" marT="27432" marB="27432"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6803C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 anchor="ctr" marL="73152" marR="73152" marT="27432" marB="27432"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6803C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 anchor="ctr" marL="73152" marR="73152" marT="27432" marB="27432"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6803C"/>
                          </a:solidFill>
                          <a:latin typeface="Segoe UI"/>
                        </a:defRPr>
                      </a:pPr>
                      <a:r>
                        <a:t>✓ (in scope)</a:t>
                      </a:r>
                    </a:p>
                  </a:txBody>
                  <a:tcPr anchor="ctr" marL="73152" marR="73152" marT="27432" marB="27432"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6803C"/>
                          </a:solidFill>
                          <a:latin typeface="Segoe UI"/>
                        </a:defRPr>
                      </a:pPr>
                      <a:r>
                        <a:t>✓ (in scope)</a:t>
                      </a:r>
                    </a:p>
                  </a:txBody>
                  <a:tcPr anchor="ctr" marL="73152" marR="73152" marT="27432" marB="27432">
                    <a:solidFill>
                      <a:srgbClr val="EAF0FE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01827"/>
                          </a:solidFill>
                          <a:latin typeface="Segoe UI"/>
                        </a:defRPr>
                      </a:pPr>
                      <a:r>
                        <a:t>Grafana ad-hoc analytics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6803C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6803C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6803C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6803C"/>
                          </a:solidFill>
                          <a:latin typeface="Segoe UI"/>
                        </a:defRPr>
                      </a:pPr>
                      <a:r>
                        <a:t>✓ ?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6803C"/>
                          </a:solidFill>
                          <a:latin typeface="Segoe UI"/>
                        </a:defRPr>
                      </a:pPr>
                      <a:r>
                        <a:t>✓ ?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41967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01827"/>
                          </a:solidFill>
                          <a:latin typeface="Segoe UI"/>
                        </a:defRPr>
                      </a:pPr>
                      <a:r>
                        <a:t>Acknowledge alarms</a:t>
                      </a:r>
                    </a:p>
                  </a:txBody>
                  <a:tcPr anchor="ctr" marL="73152" marR="73152" marT="27432" marB="27432"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6803C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 anchor="ctr" marL="73152" marR="73152" marT="27432" marB="27432"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6803C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 anchor="ctr" marL="73152" marR="73152" marT="27432" marB="27432"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6803C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 anchor="ctr" marL="73152" marR="73152" marT="27432" marB="27432"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6803C"/>
                          </a:solidFill>
                          <a:latin typeface="Segoe UI"/>
                        </a:defRPr>
                      </a:pPr>
                      <a:r>
                        <a:t>✓ (in scope)</a:t>
                      </a:r>
                    </a:p>
                  </a:txBody>
                  <a:tcPr anchor="ctr" marL="73152" marR="73152" marT="27432" marB="27432"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8A92A6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AF0F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1">
                <a:solidFill>
                  <a:srgbClr val="6D28D9"/>
                </a:solidFill>
                <a:latin typeface="Segoe UI"/>
              </a:defRPr>
            </a:pPr>
            <a:r>
              <a:t>“✓ ?” = per the PRD's stated matrix all roles get ad-hoc analytics; confirm whether Viewers should see raw Grafana or a curated read-only subset instead.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F5FE0"/>
                </a:solidFill>
                <a:latin typeface="Segoe UI"/>
              </a:defRPr>
            </a:pPr>
            <a:r>
              <a:t>APPLICATION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827"/>
                </a:solidFill>
                <a:latin typeface="Segoe UI"/>
              </a:defRPr>
            </a:pPr>
            <a:r>
              <a:t>Portal Navigation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B6478"/>
                </a:solidFill>
                <a:latin typeface="Segoe UI"/>
              </a:defRPr>
            </a:pPr>
            <a:r>
              <a:t>Scope narrows at each tier: Global is superadmin-only, Company scope is where the three company roles live day to 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27432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8A92A6"/>
                </a:solidFill>
                <a:latin typeface="Segoe UI"/>
              </a:defRPr>
            </a:pPr>
            <a:r>
              <a:t>GLOBAL — superadmin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783080"/>
            <a:ext cx="1920240" cy="658368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880" b="0">
                <a:solidFill>
                  <a:srgbClr val="101827"/>
                </a:solidFill>
                <a:latin typeface="Segoe UI"/>
              </a:defRPr>
            </a:pPr>
            <a:r>
              <a:t>Resellers 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783080"/>
            <a:ext cx="1920240" cy="658368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880" b="0">
                <a:solidFill>
                  <a:srgbClr val="101827"/>
                </a:solidFill>
                <a:latin typeface="Segoe UI"/>
              </a:defRPr>
            </a:pPr>
            <a:r>
              <a:t>Fleet 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1783080"/>
            <a:ext cx="1920240" cy="658368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880" b="0">
                <a:solidFill>
                  <a:srgbClr val="101827"/>
                </a:solidFill>
                <a:latin typeface="Segoe UI"/>
              </a:defRPr>
            </a:pPr>
            <a:r>
              <a:t>All Alarms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783080"/>
            <a:ext cx="1920240" cy="658368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880" b="0">
                <a:solidFill>
                  <a:srgbClr val="101827"/>
                </a:solidFill>
                <a:latin typeface="Segoe UI"/>
              </a:defRPr>
            </a:pPr>
            <a:r>
              <a:t>Platform Settings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16352"/>
            <a:ext cx="27432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8A92A6"/>
                </a:solidFill>
                <a:latin typeface="Segoe UI"/>
              </a:defRPr>
            </a:pPr>
            <a:r>
              <a:t>RESELLER SCOPE — + reseller admin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2953512"/>
            <a:ext cx="1920240" cy="658368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880" b="0">
                <a:solidFill>
                  <a:srgbClr val="101827"/>
                </a:solidFill>
                <a:latin typeface="Segoe UI"/>
              </a:defRPr>
            </a:pPr>
            <a:r>
              <a:t>Reseller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2953512"/>
            <a:ext cx="1920240" cy="658368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880" b="0">
                <a:solidFill>
                  <a:srgbClr val="101827"/>
                </a:solidFill>
                <a:latin typeface="Segoe UI"/>
              </a:defRPr>
            </a:pPr>
            <a:r>
              <a:t>Companies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60" y="2953512"/>
            <a:ext cx="1920240" cy="658368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880" b="0">
                <a:solidFill>
                  <a:srgbClr val="101827"/>
                </a:solidFill>
                <a:latin typeface="Segoe UI"/>
              </a:defRPr>
            </a:pPr>
            <a:r>
              <a:t>Reseller Map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2953512"/>
            <a:ext cx="1920240" cy="658368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880" b="0">
                <a:solidFill>
                  <a:srgbClr val="101827"/>
                </a:solidFill>
                <a:latin typeface="Segoe UI"/>
              </a:defRPr>
            </a:pPr>
            <a:r>
              <a:t>Reseller Alarms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86784"/>
            <a:ext cx="27432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8A92A6"/>
                </a:solidFill>
                <a:latin typeface="Segoe UI"/>
              </a:defRPr>
            </a:pPr>
            <a:r>
              <a:t>COMPANY SCOPE — admins, operators, viewers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360" y="4123944"/>
            <a:ext cx="1234440" cy="658368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880" b="0">
                <a:solidFill>
                  <a:srgbClr val="101827"/>
                </a:solidFill>
                <a:latin typeface="Segoe UI"/>
              </a:defRPr>
            </a:pPr>
            <a:r>
              <a:t>Company 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4123944"/>
            <a:ext cx="1234440" cy="658368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880" b="0">
                <a:solidFill>
                  <a:srgbClr val="101827"/>
                </a:solidFill>
                <a:latin typeface="Segoe UI"/>
              </a:defRPr>
            </a:pPr>
            <a:r>
              <a:t>Company Map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4123944"/>
            <a:ext cx="1234440" cy="658368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880" b="0">
                <a:solidFill>
                  <a:srgbClr val="101827"/>
                </a:solidFill>
                <a:latin typeface="Segoe UI"/>
              </a:defRPr>
            </a:pPr>
            <a:r>
              <a:t>Alarms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95160" y="4123944"/>
            <a:ext cx="1234440" cy="658368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880" b="0">
                <a:solidFill>
                  <a:srgbClr val="101827"/>
                </a:solidFill>
                <a:latin typeface="Segoe UI"/>
              </a:defRPr>
            </a:pPr>
            <a:r>
              <a:t>Users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4123944"/>
            <a:ext cx="1234440" cy="658368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880" b="0">
                <a:solidFill>
                  <a:srgbClr val="101827"/>
                </a:solidFill>
                <a:latin typeface="Segoe UI"/>
              </a:defRPr>
            </a:pPr>
            <a:r>
              <a:t>Reports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38360" y="4123944"/>
            <a:ext cx="1234440" cy="658368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880" b="0">
                <a:solidFill>
                  <a:srgbClr val="101827"/>
                </a:solidFill>
                <a:latin typeface="Segoe UI"/>
              </a:defRPr>
            </a:pPr>
            <a:r>
              <a:t>On-Call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157216"/>
            <a:ext cx="27432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8A92A6"/>
                </a:solidFill>
                <a:latin typeface="Segoe UI"/>
              </a:defRPr>
            </a:pPr>
            <a:r>
              <a:t>SYSTEM SCOPE — scoped by role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80360" y="5294376"/>
            <a:ext cx="3977639" cy="658368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880" b="0">
                <a:solidFill>
                  <a:srgbClr val="101827"/>
                </a:solidFill>
                <a:latin typeface="Segoe UI"/>
              </a:defRPr>
            </a:pPr>
            <a:r>
              <a:t>System Detail (one-line diagram)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95160" y="5294376"/>
            <a:ext cx="3977639" cy="658368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880" b="0">
                <a:solidFill>
                  <a:srgbClr val="101827"/>
                </a:solidFill>
                <a:latin typeface="Segoe UI"/>
              </a:defRPr>
            </a:pPr>
            <a:r>
              <a:t>Report Detail + load chart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903720" y="2441448"/>
            <a:ext cx="0" cy="841248"/>
          </a:xfrm>
          <a:prstGeom prst="line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903720" y="3611879"/>
            <a:ext cx="0" cy="841249"/>
          </a:xfrm>
          <a:prstGeom prst="line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903720" y="4782312"/>
            <a:ext cx="0" cy="841248"/>
          </a:xfrm>
          <a:prstGeom prst="line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F5FE0"/>
                </a:solidFill>
                <a:latin typeface="Segoe UI"/>
              </a:defRPr>
            </a:pPr>
            <a:r>
              <a:t>CROSS-CUTTING FLOW ·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827"/>
                </a:solidFill>
                <a:latin typeface="Segoe UI"/>
              </a:defRPr>
            </a:pPr>
            <a:r>
              <a:t>Entity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B6478"/>
                </a:solidFill>
                <a:latin typeface="Segoe UI"/>
              </a:defRPr>
            </a:pPr>
            <a:r>
              <a:t>The same create / edit / archive pattern for Resellers, Companies, and Systems.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2926080" cy="68580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Admin opens a Resellers /</a:t>
            </a:r>
          </a:p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Companies / Systems list</a:t>
            </a:r>
          </a:p>
        </p:txBody>
      </p:sp>
      <p:sp>
        <p:nvSpPr>
          <p:cNvPr id="7" name="Diamond 6"/>
          <p:cNvSpPr/>
          <p:nvPr/>
        </p:nvSpPr>
        <p:spPr>
          <a:xfrm>
            <a:off x="822960" y="2788920"/>
            <a:ext cx="2926080" cy="6858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89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Has manage permission</a:t>
            </a:r>
          </a:p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here?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2423160"/>
            <a:ext cx="0" cy="36576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4023360"/>
            <a:ext cx="2377440" cy="594360"/>
          </a:xfrm>
          <a:prstGeom prst="roundRect">
            <a:avLst/>
          </a:prstGeom>
          <a:solidFill>
            <a:srgbClr val="FBF1DD"/>
          </a:solidFill>
          <a:ln w="15875">
            <a:solidFill>
              <a:srgbClr val="A86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Read-only view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3131820"/>
            <a:ext cx="2194560" cy="1188720"/>
          </a:xfrm>
          <a:prstGeom prst="bentConnector3">
            <a:avLst/>
          </a:prstGeom>
          <a:ln w="15875">
            <a:solidFill>
              <a:srgbClr val="C036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417320" y="3598163"/>
            <a:ext cx="1005840" cy="256032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579875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5B6478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788920"/>
            <a:ext cx="2651760" cy="59436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+ New / Edit / Archive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749039" y="3086100"/>
            <a:ext cx="640081" cy="45720"/>
          </a:xfrm>
          <a:prstGeom prst="bentConnector3">
            <a:avLst/>
          </a:prstGeom>
          <a:ln w="15875">
            <a:solidFill>
              <a:srgbClr val="1680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566159" y="2980944"/>
            <a:ext cx="1005840" cy="256032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19" y="296265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5B6478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1920240"/>
            <a:ext cx="2651760" cy="59436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Modal form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5715000" y="2514600"/>
            <a:ext cx="3108959" cy="27432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iamond 18"/>
          <p:cNvSpPr/>
          <p:nvPr/>
        </p:nvSpPr>
        <p:spPr>
          <a:xfrm>
            <a:off x="7498079" y="2926080"/>
            <a:ext cx="2651760" cy="6858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89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950" b="0">
                <a:solidFill>
                  <a:srgbClr val="101827"/>
                </a:solidFill>
                <a:latin typeface="Segoe UI"/>
              </a:defRPr>
            </a:pPr>
            <a:r>
              <a:t>Create or update?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23959" y="2514600"/>
            <a:ext cx="0" cy="41148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223760" y="4160520"/>
            <a:ext cx="1463040" cy="59436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900" b="0">
                <a:solidFill>
                  <a:srgbClr val="101827"/>
                </a:solidFill>
                <a:latin typeface="Segoe UI"/>
              </a:defRPr>
            </a:pPr>
            <a:r>
              <a:t>POST</a:t>
            </a:r>
          </a:p>
          <a:p>
            <a:pPr algn="ctr">
              <a:defRPr sz="900" b="0">
                <a:solidFill>
                  <a:srgbClr val="101827"/>
                </a:solidFill>
                <a:latin typeface="Segoe UI"/>
              </a:defRPr>
            </a:pPr>
            <a:r>
              <a:t>/api/&lt;entity&gt;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9680" y="4160520"/>
            <a:ext cx="1463040" cy="59436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900" b="0">
                <a:solidFill>
                  <a:srgbClr val="101827"/>
                </a:solidFill>
                <a:latin typeface="Segoe UI"/>
              </a:defRPr>
            </a:pPr>
            <a:r>
              <a:t>PATCH</a:t>
            </a:r>
          </a:p>
          <a:p>
            <a:pPr algn="ctr">
              <a:defRPr sz="900" b="0">
                <a:solidFill>
                  <a:srgbClr val="101827"/>
                </a:solidFill>
                <a:latin typeface="Segoe UI"/>
              </a:defRPr>
            </a:pPr>
            <a:r>
              <a:t>/api/&lt;entity&gt;/:id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98079" y="3268980"/>
            <a:ext cx="1188721" cy="1188720"/>
          </a:xfrm>
          <a:prstGeom prst="bentConnector3">
            <a:avLst/>
          </a:prstGeom>
          <a:ln w="15875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589519" y="3735324"/>
            <a:ext cx="1005840" cy="256032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79" y="3717035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5B6478"/>
                </a:solidFill>
                <a:latin typeface="Segoe UI"/>
              </a:defRPr>
            </a:pPr>
            <a:r>
              <a:t>Create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8869680" y="3268980"/>
            <a:ext cx="1280159" cy="1188720"/>
          </a:xfrm>
          <a:prstGeom prst="bentConnector3">
            <a:avLst/>
          </a:prstGeom>
          <a:ln w="15875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006839" y="3735324"/>
            <a:ext cx="1005840" cy="256032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799" y="3717035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5B6478"/>
                </a:solidFill>
                <a:latin typeface="Segoe UI"/>
              </a:defRPr>
            </a:pPr>
            <a:r>
              <a:t>Update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3931920"/>
            <a:ext cx="2651760" cy="59436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900" b="0">
                <a:solidFill>
                  <a:srgbClr val="101827"/>
                </a:solidFill>
                <a:latin typeface="Segoe UI"/>
              </a:defRPr>
            </a:pPr>
            <a:r>
              <a:t>Archive → DELETE</a:t>
            </a:r>
          </a:p>
          <a:p>
            <a:pPr algn="ctr">
              <a:defRPr sz="900" b="0">
                <a:solidFill>
                  <a:srgbClr val="101827"/>
                </a:solidFill>
                <a:latin typeface="Segoe UI"/>
              </a:defRPr>
            </a:pPr>
            <a:r>
              <a:t>(sets status = archived)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715000" y="3383280"/>
            <a:ext cx="0" cy="54864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617720" y="4983480"/>
            <a:ext cx="2194560" cy="54864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List refreshes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715000" y="4526280"/>
            <a:ext cx="0" cy="45720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955279" y="4754880"/>
            <a:ext cx="0" cy="50292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601200" y="4754880"/>
            <a:ext cx="0" cy="50292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F5FE0"/>
                </a:solidFill>
                <a:latin typeface="Segoe UI"/>
              </a:defRPr>
            </a:pPr>
            <a:r>
              <a:t>BUILT (UI) · PLANNED (LIVE DATA)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827"/>
                </a:solidFill>
                <a:latin typeface="Segoe UI"/>
              </a:defRPr>
            </a:pPr>
            <a:r>
              <a:t>System Monitoring — One-Line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B6478"/>
                </a:solidFill>
                <a:latin typeface="Segoe UI"/>
              </a:defRPr>
            </a:pPr>
            <a:r>
              <a:t>The Normal / Emergency / Test toggle is a client-side simulation this milestone — no live telemetry behind it yet.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828800"/>
            <a:ext cx="2560320" cy="59436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Open System Detail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1828800"/>
            <a:ext cx="2560320" cy="59436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Load ATS + Generator roster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0" y="2125980"/>
            <a:ext cx="274320" cy="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766560" y="1828800"/>
            <a:ext cx="2560320" cy="59436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Render one-line diagram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92240" y="2125980"/>
            <a:ext cx="274320" cy="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4206240" y="2926080"/>
            <a:ext cx="2743200" cy="73152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89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Scenario toggle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5577840" y="2423160"/>
            <a:ext cx="2468880" cy="50292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8640" y="4160520"/>
            <a:ext cx="2011680" cy="77724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900" b="0">
                <a:solidFill>
                  <a:srgbClr val="101827"/>
                </a:solidFill>
                <a:latin typeface="Segoe UI"/>
              </a:defRPr>
            </a:pPr>
            <a:r>
              <a:t>Normal</a:t>
            </a:r>
          </a:p>
          <a:p>
            <a:pPr algn="ctr">
              <a:defRPr sz="900" b="0">
                <a:solidFill>
                  <a:srgbClr val="101827"/>
                </a:solidFill>
                <a:latin typeface="Segoe UI"/>
              </a:defRPr>
            </a:pPr>
            <a:r>
              <a:t>Utility feeds all,</a:t>
            </a:r>
          </a:p>
          <a:p>
            <a:pPr algn="ctr">
              <a:defRPr sz="900" b="0">
                <a:solidFill>
                  <a:srgbClr val="101827"/>
                </a:solidFill>
                <a:latin typeface="Segoe UI"/>
              </a:defRPr>
            </a:pPr>
            <a:r>
              <a:t>generators standby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4160520"/>
            <a:ext cx="2011680" cy="77724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900" b="0">
                <a:solidFill>
                  <a:srgbClr val="101827"/>
                </a:solidFill>
                <a:latin typeface="Segoe UI"/>
              </a:defRPr>
            </a:pPr>
            <a:r>
              <a:t>Emergency</a:t>
            </a:r>
          </a:p>
          <a:p>
            <a:pPr algn="ctr">
              <a:defRPr sz="900" b="0">
                <a:solidFill>
                  <a:srgbClr val="101827"/>
                </a:solidFill>
                <a:latin typeface="Segoe UI"/>
              </a:defRPr>
            </a:pPr>
            <a:r>
              <a:t>Utility lost,</a:t>
            </a:r>
          </a:p>
          <a:p>
            <a:pPr algn="ctr">
              <a:defRPr sz="900" b="0">
                <a:solidFill>
                  <a:srgbClr val="101827"/>
                </a:solidFill>
                <a:latin typeface="Segoe UI"/>
              </a:defRPr>
            </a:pPr>
            <a:r>
              <a:t>generators running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4160520"/>
            <a:ext cx="2011680" cy="77724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900" b="0">
                <a:solidFill>
                  <a:srgbClr val="101827"/>
                </a:solidFill>
                <a:latin typeface="Segoe UI"/>
              </a:defRPr>
            </a:pPr>
            <a:r>
              <a:t>Test</a:t>
            </a:r>
          </a:p>
          <a:p>
            <a:pPr algn="ctr">
              <a:defRPr sz="900" b="0">
                <a:solidFill>
                  <a:srgbClr val="101827"/>
                </a:solidFill>
                <a:latin typeface="Segoe UI"/>
              </a:defRPr>
            </a:pPr>
            <a:r>
              <a:t>Simulated test run,</a:t>
            </a:r>
          </a:p>
          <a:p>
            <a:pPr algn="ctr">
              <a:defRPr sz="900" b="0">
                <a:solidFill>
                  <a:srgbClr val="101827"/>
                </a:solidFill>
                <a:latin typeface="Segoe UI"/>
              </a:defRPr>
            </a:pPr>
            <a:r>
              <a:t>generators running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1554480" y="3657600"/>
            <a:ext cx="4023360" cy="502920"/>
          </a:xfrm>
          <a:prstGeom prst="bentConnector3">
            <a:avLst/>
          </a:prstGeom>
          <a:ln w="15875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4114800" y="3657600"/>
            <a:ext cx="1463040" cy="502920"/>
          </a:xfrm>
          <a:prstGeom prst="bentConnector3">
            <a:avLst/>
          </a:prstGeom>
          <a:ln w="15875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577840" y="3657600"/>
            <a:ext cx="1097280" cy="502920"/>
          </a:xfrm>
          <a:prstGeom prst="bentConnector3">
            <a:avLst/>
          </a:prstGeom>
          <a:ln w="15875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377439" y="5303520"/>
            <a:ext cx="3474720" cy="54864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Bottom bar: total load vs. capacity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4114799" y="4937760"/>
            <a:ext cx="1" cy="36576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F5FE0"/>
                </a:solidFill>
                <a:latin typeface="Segoe UI"/>
              </a:defRPr>
            </a:pPr>
            <a:r>
              <a:t>BUILT (UI) · PLANNED (AUTO-GENERATION)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827"/>
                </a:solidFill>
                <a:latin typeface="Segoe UI"/>
              </a:defRPr>
            </a:pPr>
            <a:r>
              <a:t>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B6478"/>
                </a:solidFill>
                <a:latin typeface="Segoe UI"/>
              </a:defRPr>
            </a:pPr>
            <a:r>
              <a:t>Seeded demo records today — the PDF generation trigger comes with the event engine (Phase 7).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377440" cy="54864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Open Reports</a:t>
            </a:r>
          </a:p>
        </p:txBody>
      </p:sp>
      <p:sp>
        <p:nvSpPr>
          <p:cNvPr id="7" name="Diamond 6"/>
          <p:cNvSpPr/>
          <p:nvPr/>
        </p:nvSpPr>
        <p:spPr>
          <a:xfrm>
            <a:off x="3429000" y="1737360"/>
            <a:ext cx="2377440" cy="73152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89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Tab?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08960" y="2103120"/>
            <a:ext cx="320040" cy="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309359" y="1554480"/>
            <a:ext cx="1828800" cy="68580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850" b="0">
                <a:solidFill>
                  <a:srgbClr val="101827"/>
                </a:solidFill>
                <a:latin typeface="Segoe UI"/>
              </a:defRPr>
            </a:pPr>
            <a:r>
              <a:t>Calendar</a:t>
            </a:r>
          </a:p>
          <a:p>
            <a:pPr algn="ctr">
              <a:defRPr sz="850" b="0">
                <a:solidFill>
                  <a:srgbClr val="101827"/>
                </a:solidFill>
                <a:latin typeface="Segoe UI"/>
              </a:defRPr>
            </a:pPr>
            <a:r>
              <a:t>month grid</a:t>
            </a:r>
          </a:p>
          <a:p>
            <a:pPr algn="ctr">
              <a:defRPr sz="850" b="0">
                <a:solidFill>
                  <a:srgbClr val="101827"/>
                </a:solidFill>
                <a:latin typeface="Segoe UI"/>
              </a:defRPr>
            </a:pPr>
            <a:r>
              <a:t>by 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2377440"/>
            <a:ext cx="1828800" cy="68580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850" b="0">
                <a:solidFill>
                  <a:srgbClr val="101827"/>
                </a:solidFill>
                <a:latin typeface="Segoe UI"/>
              </a:defRPr>
            </a:pPr>
            <a:r>
              <a:t>All Reports</a:t>
            </a:r>
          </a:p>
          <a:p>
            <a:pPr algn="ctr">
              <a:defRPr sz="850" b="0">
                <a:solidFill>
                  <a:srgbClr val="101827"/>
                </a:solidFill>
                <a:latin typeface="Segoe UI"/>
              </a:defRPr>
            </a:pPr>
            <a:r>
              <a:t>flat sortable</a:t>
            </a:r>
          </a:p>
          <a:p>
            <a:pPr algn="ctr">
              <a:defRPr sz="850" b="0">
                <a:solidFill>
                  <a:srgbClr val="101827"/>
                </a:solidFill>
                <a:latin typeface="Segoe UI"/>
              </a:defRPr>
            </a:pPr>
            <a:r>
              <a:t>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3200400"/>
            <a:ext cx="1828800" cy="68580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800" b="0">
                <a:solidFill>
                  <a:srgbClr val="101827"/>
                </a:solidFill>
                <a:latin typeface="Segoe UI"/>
              </a:defRPr>
            </a:pPr>
            <a:r>
              <a:t>ATS Compliance</a:t>
            </a:r>
          </a:p>
          <a:p>
            <a:pPr algn="ctr">
              <a:defRPr sz="800" b="0">
                <a:solidFill>
                  <a:srgbClr val="101827"/>
                </a:solidFill>
                <a:latin typeface="Segoe UI"/>
              </a:defRPr>
            </a:pPr>
            <a:r>
              <a:t>initiation counts</a:t>
            </a:r>
          </a:p>
          <a:p>
            <a:pPr algn="ctr">
              <a:defRPr sz="800" b="0">
                <a:solidFill>
                  <a:srgbClr val="101827"/>
                </a:solidFill>
                <a:latin typeface="Segoe UI"/>
              </a:defRPr>
            </a:pPr>
            <a:r>
              <a:t>vs. ATS roster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5806440" y="1897380"/>
            <a:ext cx="502919" cy="205740"/>
          </a:xfrm>
          <a:prstGeom prst="bentConnector3">
            <a:avLst/>
          </a:prstGeom>
          <a:ln w="15875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06440" y="2103120"/>
            <a:ext cx="502919" cy="617220"/>
          </a:xfrm>
          <a:prstGeom prst="bentConnector3">
            <a:avLst/>
          </a:prstGeom>
          <a:ln w="15875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806440" y="2103120"/>
            <a:ext cx="502919" cy="1440180"/>
          </a:xfrm>
          <a:prstGeom prst="bentConnector3">
            <a:avLst/>
          </a:prstGeom>
          <a:ln w="15875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686800" y="1965960"/>
            <a:ext cx="2194560" cy="59436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Click a report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38158" y="1897380"/>
            <a:ext cx="548642" cy="36576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138158" y="2263140"/>
            <a:ext cx="548642" cy="45720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686800" y="2926080"/>
            <a:ext cx="2194560" cy="82296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850" b="0">
                <a:solidFill>
                  <a:srgbClr val="101827"/>
                </a:solidFill>
                <a:latin typeface="Segoe UI"/>
              </a:defRPr>
            </a:pPr>
            <a:r>
              <a:t>Report Detail:</a:t>
            </a:r>
          </a:p>
          <a:p>
            <a:pPr algn="ctr">
              <a:defRPr sz="850" b="0">
                <a:solidFill>
                  <a:srgbClr val="101827"/>
                </a:solidFill>
                <a:latin typeface="Segoe UI"/>
              </a:defRPr>
            </a:pPr>
            <a:r>
              <a:t>peak/avg kW, ≥30%</a:t>
            </a:r>
          </a:p>
          <a:p>
            <a:pPr algn="ctr">
              <a:defRPr sz="850" b="0">
                <a:solidFill>
                  <a:srgbClr val="101827"/>
                </a:solidFill>
                <a:latin typeface="Segoe UI"/>
              </a:defRPr>
            </a:pPr>
            <a:r>
              <a:t>for 30min pass–fail,</a:t>
            </a:r>
          </a:p>
          <a:p>
            <a:pPr algn="ctr">
              <a:defRPr sz="850" b="0">
                <a:solidFill>
                  <a:srgbClr val="101827"/>
                </a:solidFill>
                <a:latin typeface="Segoe UI"/>
              </a:defRPr>
            </a:pPr>
            <a:r>
              <a:t>load profile chart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784080" y="2560320"/>
            <a:ext cx="0" cy="36576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F5FE0"/>
                </a:solidFill>
                <a:latin typeface="Segoe UI"/>
              </a:defRPr>
            </a:pPr>
            <a:r>
              <a:t>BUILT (UI + SCHEDULE) · PLANNED (AUTO-PAGING)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827"/>
                </a:solidFill>
                <a:latin typeface="Segoe UI"/>
              </a:defRPr>
            </a:pPr>
            <a:r>
              <a:t>Alarms &amp; On-Call Escalation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B6478"/>
                </a:solidFill>
                <a:latin typeface="Segoe UI"/>
              </a:defRPr>
            </a:pPr>
            <a:r>
              <a:t>Escalation timeouts are configured and displayed; automatic paging after a timeout is planned, not wired up yet.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377440" cy="54864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000" b="0">
                <a:solidFill>
                  <a:srgbClr val="101827"/>
                </a:solidFill>
                <a:latin typeface="Segoe UI"/>
              </a:defRPr>
            </a:pPr>
            <a:r>
              <a:t>Alarm recorded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737360"/>
            <a:ext cx="2651760" cy="73152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880" b="0">
                <a:solidFill>
                  <a:srgbClr val="101827"/>
                </a:solidFill>
                <a:latin typeface="Segoe UI"/>
              </a:defRPr>
            </a:pPr>
            <a:r>
              <a:t>Shown at system / company /</a:t>
            </a:r>
          </a:p>
          <a:p>
            <a:pPr algn="ctr">
              <a:defRPr sz="880" b="0">
                <a:solidFill>
                  <a:srgbClr val="101827"/>
                </a:solidFill>
                <a:latin typeface="Segoe UI"/>
              </a:defRPr>
            </a:pPr>
            <a:r>
              <a:t>reseller / global level (scoped)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08960" y="2103120"/>
            <a:ext cx="320040" cy="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iamond 8"/>
          <p:cNvSpPr/>
          <p:nvPr/>
        </p:nvSpPr>
        <p:spPr>
          <a:xfrm>
            <a:off x="6446520" y="1737360"/>
            <a:ext cx="2194560" cy="73152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89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950" b="0">
                <a:solidFill>
                  <a:srgbClr val="101827"/>
                </a:solidFill>
                <a:latin typeface="Segoe UI"/>
              </a:defRPr>
            </a:pPr>
            <a:r>
              <a:t>Acknowledged?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103120"/>
            <a:ext cx="365760" cy="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052560" y="1554480"/>
            <a:ext cx="2286000" cy="54864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900" b="0">
                <a:solidFill>
                  <a:srgbClr val="101827"/>
                </a:solidFill>
                <a:latin typeface="Segoe UI"/>
              </a:defRPr>
            </a:pPr>
            <a:r>
              <a:t>Acked — shows</a:t>
            </a:r>
          </a:p>
          <a:p>
            <a:pPr algn="ctr">
              <a:defRPr sz="900" b="0">
                <a:solidFill>
                  <a:srgbClr val="101827"/>
                </a:solidFill>
                <a:latin typeface="Segoe UI"/>
              </a:defRPr>
            </a:pPr>
            <a:r>
              <a:t>by / at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8641080" y="1828800"/>
            <a:ext cx="411480" cy="274320"/>
          </a:xfrm>
          <a:prstGeom prst="bentConnector3">
            <a:avLst/>
          </a:prstGeom>
          <a:ln w="15875">
            <a:solidFill>
              <a:srgbClr val="1680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343900" y="1837943"/>
            <a:ext cx="1005840" cy="256032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23860" y="181965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5B6478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2423160"/>
            <a:ext cx="2286000" cy="54864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900" b="0">
                <a:solidFill>
                  <a:srgbClr val="101827"/>
                </a:solidFill>
                <a:latin typeface="Segoe UI"/>
              </a:defRPr>
            </a:pPr>
            <a:r>
              <a:t>Unacked — surfaced</a:t>
            </a:r>
          </a:p>
          <a:p>
            <a:pPr algn="ctr">
              <a:defRPr sz="900" b="0">
                <a:solidFill>
                  <a:srgbClr val="101827"/>
                </a:solidFill>
                <a:latin typeface="Segoe UI"/>
              </a:defRPr>
            </a:pPr>
            <a:r>
              <a:t>on On-Call page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7543800" y="2423160"/>
            <a:ext cx="2651760" cy="45720"/>
          </a:xfrm>
          <a:prstGeom prst="bentConnector3">
            <a:avLst/>
          </a:prstGeom>
          <a:ln w="15875">
            <a:solidFill>
              <a:srgbClr val="C036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366759" y="2318003"/>
            <a:ext cx="1005840" cy="256032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9" y="2299715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5B6478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3246120"/>
            <a:ext cx="2651760" cy="54864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900" b="0">
                <a:solidFill>
                  <a:srgbClr val="101827"/>
                </a:solidFill>
                <a:latin typeface="Segoe UI"/>
              </a:defRPr>
            </a:pPr>
            <a:r>
              <a:t>Today's on-call</a:t>
            </a:r>
          </a:p>
          <a:p>
            <a:pPr algn="ctr">
              <a:defRPr sz="900" b="0">
                <a:solidFill>
                  <a:srgbClr val="101827"/>
                </a:solidFill>
                <a:latin typeface="Segoe UI"/>
              </a:defRPr>
            </a:pPr>
            <a:r>
              <a:t>primary + secondary shown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52560" y="2697480"/>
            <a:ext cx="45720" cy="822960"/>
          </a:xfrm>
          <a:prstGeom prst="bentConnector3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46520" y="4023360"/>
            <a:ext cx="2651760" cy="548640"/>
          </a:xfrm>
          <a:prstGeom prst="roundRect">
            <a:avLst/>
          </a:prstGeom>
          <a:solidFill>
            <a:srgbClr val="F0F2F7"/>
          </a:solidFill>
          <a:ln w="15875">
            <a:solidFill>
              <a:srgbClr val="9AA2B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900" b="0">
                <a:solidFill>
                  <a:srgbClr val="8A92A6"/>
                </a:solidFill>
                <a:latin typeface="Segoe UI"/>
              </a:defRPr>
            </a:pPr>
            <a:r>
              <a:t>Escalation chain</a:t>
            </a:r>
          </a:p>
          <a:p>
            <a:pPr algn="ctr">
              <a:defRPr sz="900" b="0">
                <a:solidFill>
                  <a:srgbClr val="8A92A6"/>
                </a:solidFill>
                <a:latin typeface="Segoe UI"/>
              </a:defRPr>
            </a:pPr>
            <a:r>
              <a:t>(auto-paging planned)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0" y="3794760"/>
            <a:ext cx="0" cy="228600"/>
          </a:xfrm>
          <a:prstGeom prst="bentConnector3">
            <a:avLst/>
          </a:prstGeom>
          <a:ln w="15875">
            <a:solidFill>
              <a:srgbClr val="9AA2B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F5FE0"/>
                </a:solidFill>
                <a:latin typeface="Segoe UI"/>
              </a:defRPr>
            </a:pPr>
            <a:r>
              <a:t>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827"/>
                </a:solidFill>
                <a:latin typeface="Segoe UI"/>
              </a:defRPr>
            </a:pPr>
            <a:r>
              <a:t>Build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B6478"/>
                </a:solidFill>
                <a:latin typeface="Segoe UI"/>
              </a:defRPr>
            </a:pPr>
            <a:r>
              <a:t>The PRD's phased plan. Milestone 1 covers identity, the entity database, and the full frontend shell.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417320" cy="822960"/>
          </a:xfrm>
          <a:prstGeom prst="roundRect">
            <a:avLst/>
          </a:prstGeom>
          <a:solidFill>
            <a:srgbClr val="F0F2F7"/>
          </a:solidFill>
          <a:ln w="15875">
            <a:solidFill>
              <a:srgbClr val="9AA2B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850" b="0">
                <a:solidFill>
                  <a:srgbClr val="8A92A6"/>
                </a:solidFill>
                <a:latin typeface="Segoe UI"/>
              </a:defRPr>
            </a:pPr>
            <a:r>
              <a:t>Phase 1</a:t>
            </a:r>
          </a:p>
          <a:p>
            <a:pPr algn="ctr">
              <a:defRPr sz="850" b="0">
                <a:solidFill>
                  <a:srgbClr val="8A92A6"/>
                </a:solidFill>
                <a:latin typeface="Segoe UI"/>
              </a:defRPr>
            </a:pPr>
            <a:r>
              <a:t>MQTT Observation</a:t>
            </a:r>
          </a:p>
          <a:p>
            <a:pPr algn="ctr">
              <a:defRPr sz="850" b="0">
                <a:solidFill>
                  <a:srgbClr val="8A92A6"/>
                </a:solidFill>
                <a:latin typeface="Segoe UI"/>
              </a:defRPr>
            </a:pPr>
            <a:r>
              <a:t>+ Simulator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2103120"/>
            <a:ext cx="1417320" cy="822960"/>
          </a:xfrm>
          <a:prstGeom prst="roundRect">
            <a:avLst/>
          </a:prstGeom>
          <a:solidFill>
            <a:srgbClr val="F0F2F7"/>
          </a:solidFill>
          <a:ln w="15875">
            <a:solidFill>
              <a:srgbClr val="9AA2B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850" b="0">
                <a:solidFill>
                  <a:srgbClr val="8A92A6"/>
                </a:solidFill>
                <a:latin typeface="Segoe UI"/>
              </a:defRPr>
            </a:pPr>
            <a:r>
              <a:t>Phase 4</a:t>
            </a:r>
          </a:p>
          <a:p>
            <a:pPr algn="ctr">
              <a:defRPr sz="850" b="0">
                <a:solidFill>
                  <a:srgbClr val="8A92A6"/>
                </a:solidFill>
                <a:latin typeface="Segoe UI"/>
              </a:defRPr>
            </a:pPr>
            <a:r>
              <a:t>Ingestion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2103120"/>
            <a:ext cx="1417320" cy="822960"/>
          </a:xfrm>
          <a:prstGeom prst="roundRect">
            <a:avLst/>
          </a:prstGeom>
          <a:solidFill>
            <a:srgbClr val="F0F2F7"/>
          </a:solidFill>
          <a:ln w="15875">
            <a:solidFill>
              <a:srgbClr val="9AA2B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850" b="0">
                <a:solidFill>
                  <a:srgbClr val="8A92A6"/>
                </a:solidFill>
                <a:latin typeface="Segoe UI"/>
              </a:defRPr>
            </a:pPr>
            <a:r>
              <a:t>Phase 5</a:t>
            </a:r>
          </a:p>
          <a:p>
            <a:pPr algn="ctr">
              <a:defRPr sz="850" b="0">
                <a:solidFill>
                  <a:srgbClr val="8A92A6"/>
                </a:solidFill>
                <a:latin typeface="Segoe UI"/>
              </a:defRPr>
            </a:pPr>
            <a:r>
              <a:t>Cache &amp; Realtime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66160"/>
            <a:ext cx="1417320" cy="82296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850" b="0">
                <a:solidFill>
                  <a:srgbClr val="101827"/>
                </a:solidFill>
                <a:latin typeface="Segoe UI"/>
              </a:defRPr>
            </a:pPr>
            <a:r>
              <a:t>Phase 2</a:t>
            </a:r>
          </a:p>
          <a:p>
            <a:pPr algn="ctr">
              <a:defRPr sz="850" b="0">
                <a:solidFill>
                  <a:srgbClr val="101827"/>
                </a:solidFill>
                <a:latin typeface="Segoe UI"/>
              </a:defRPr>
            </a:pPr>
            <a:r>
              <a:t>Auth &amp; Identity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3566160"/>
            <a:ext cx="1417320" cy="82296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850" b="0">
                <a:solidFill>
                  <a:srgbClr val="101827"/>
                </a:solidFill>
                <a:latin typeface="Segoe UI"/>
              </a:defRPr>
            </a:pPr>
            <a:r>
              <a:t>Phase 3</a:t>
            </a:r>
          </a:p>
          <a:p>
            <a:pPr algn="ctr">
              <a:defRPr sz="850" b="0">
                <a:solidFill>
                  <a:srgbClr val="101827"/>
                </a:solidFill>
                <a:latin typeface="Segoe UI"/>
              </a:defRPr>
            </a:pPr>
            <a:r>
              <a:t>Entity DB &amp; 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3566160"/>
            <a:ext cx="1417320" cy="822960"/>
          </a:xfrm>
          <a:prstGeom prst="roundRect">
            <a:avLst/>
          </a:prstGeom>
          <a:solidFill>
            <a:srgbClr val="EAF0FE"/>
          </a:solidFill>
          <a:ln w="15875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850" b="0">
                <a:solidFill>
                  <a:srgbClr val="101827"/>
                </a:solidFill>
                <a:latin typeface="Segoe UI"/>
              </a:defRPr>
            </a:pPr>
            <a:r>
              <a:t>Phase 6</a:t>
            </a:r>
          </a:p>
          <a:p>
            <a:pPr algn="ctr">
              <a:defRPr sz="850" b="0">
                <a:solidFill>
                  <a:srgbClr val="101827"/>
                </a:solidFill>
                <a:latin typeface="Segoe UI"/>
              </a:defRPr>
            </a:pPr>
            <a:r>
              <a:t>Frontend Core Views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2834640"/>
            <a:ext cx="1691640" cy="822960"/>
          </a:xfrm>
          <a:prstGeom prst="roundRect">
            <a:avLst/>
          </a:prstGeom>
          <a:solidFill>
            <a:srgbClr val="F0F2F7"/>
          </a:solidFill>
          <a:ln w="15875">
            <a:solidFill>
              <a:srgbClr val="9AA2B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850" b="0">
                <a:solidFill>
                  <a:srgbClr val="8A92A6"/>
                </a:solidFill>
                <a:latin typeface="Segoe UI"/>
              </a:defRPr>
            </a:pPr>
            <a:r>
              <a:t>Phase 7</a:t>
            </a:r>
          </a:p>
          <a:p>
            <a:pPr algn="ctr">
              <a:defRPr sz="850" b="0">
                <a:solidFill>
                  <a:srgbClr val="8A92A6"/>
                </a:solidFill>
                <a:latin typeface="Segoe UI"/>
              </a:defRPr>
            </a:pPr>
            <a:r>
              <a:t>Events, Reports,</a:t>
            </a:r>
          </a:p>
          <a:p>
            <a:pPr algn="ctr">
              <a:defRPr sz="850" b="0">
                <a:solidFill>
                  <a:srgbClr val="8A92A6"/>
                </a:solidFill>
                <a:latin typeface="Segoe UI"/>
              </a:defRPr>
            </a:pPr>
            <a:r>
              <a:t>Alerting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65960" y="2514600"/>
            <a:ext cx="228600" cy="0"/>
          </a:xfrm>
          <a:prstGeom prst="line">
            <a:avLst/>
          </a:prstGeom>
          <a:ln w="15875">
            <a:solidFill>
              <a:srgbClr val="9AA2B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611880" y="2514600"/>
            <a:ext cx="228600" cy="0"/>
          </a:xfrm>
          <a:prstGeom prst="line">
            <a:avLst/>
          </a:prstGeom>
          <a:ln w="15875">
            <a:solidFill>
              <a:srgbClr val="9AA2B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965960" y="3977639"/>
            <a:ext cx="228600" cy="0"/>
          </a:xfrm>
          <a:prstGeom prst="line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611880" y="3977639"/>
            <a:ext cx="228600" cy="0"/>
          </a:xfrm>
          <a:prstGeom prst="line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257800" y="2514600"/>
            <a:ext cx="502920" cy="731520"/>
          </a:xfrm>
          <a:prstGeom prst="line">
            <a:avLst/>
          </a:prstGeom>
          <a:ln w="15875">
            <a:solidFill>
              <a:srgbClr val="9AA2B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257800" y="3246120"/>
            <a:ext cx="502920" cy="731519"/>
          </a:xfrm>
          <a:prstGeom prst="line">
            <a:avLst/>
          </a:prstGeom>
          <a:ln w="15875">
            <a:solidFill>
              <a:srgbClr val="2F5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48640" y="5020056"/>
            <a:ext cx="274319" cy="0"/>
          </a:xfrm>
          <a:prstGeom prst="line">
            <a:avLst/>
          </a:prstGeom>
          <a:ln w="28575">
            <a:solidFill>
              <a:srgbClr val="2F5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96112" y="4882896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5B6478"/>
                </a:solidFill>
                <a:latin typeface="Segoe UI"/>
              </a:defRPr>
            </a:pPr>
            <a:r>
              <a:t>Built — Milestone 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91840" y="5020056"/>
            <a:ext cx="274320" cy="0"/>
          </a:xfrm>
          <a:prstGeom prst="line">
            <a:avLst/>
          </a:prstGeom>
          <a:ln w="28575">
            <a:solidFill>
              <a:srgbClr val="A86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639312" y="4882896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5B6478"/>
                </a:solidFill>
                <a:latin typeface="Segoe UI"/>
              </a:defRPr>
            </a:pPr>
            <a:r>
              <a:t>Partial (demo data only)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35040" y="5020056"/>
            <a:ext cx="274319" cy="0"/>
          </a:xfrm>
          <a:prstGeom prst="line">
            <a:avLst/>
          </a:prstGeom>
          <a:ln w="28575">
            <a:solidFill>
              <a:srgbClr val="9AA2B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82512" y="4882896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5B6478"/>
                </a:solidFill>
                <a:latin typeface="Segoe UI"/>
              </a:defRPr>
            </a:pPr>
            <a:r>
              <a:t>Planned — later phases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78240" y="5020056"/>
            <a:ext cx="274320" cy="0"/>
          </a:xfrm>
          <a:prstGeom prst="line">
            <a:avLst/>
          </a:prstGeom>
          <a:ln w="28575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25712" y="4882896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5B6478"/>
                </a:solidFill>
                <a:latin typeface="Segoe UI"/>
              </a:defRPr>
            </a:pPr>
            <a:r>
              <a:t>Proposed — needs sign-off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4864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1">
                <a:solidFill>
                  <a:srgbClr val="5B6478"/>
                </a:solidFill>
                <a:latin typeface="Segoe UI"/>
              </a:defRPr>
            </a:pPr>
            <a:r>
              <a:t>Milestone 1 (this build) = Phases 2, 3 &amp; 6, adapted: MySQL for the app DB and Zitadel self-hosted via Docker for identity. Registration, OTP method, and Grafana access for Viewers (slides 4, 6, 8) need sign-off before Phase 7 begins.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